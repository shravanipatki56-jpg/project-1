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327" r:id="rId5"/>
    <p:sldId id="324" r:id="rId6"/>
    <p:sldId id="315" r:id="rId7"/>
    <p:sldId id="328" r:id="rId8"/>
    <p:sldId id="295" r:id="rId9"/>
    <p:sldId id="294" r:id="rId10"/>
    <p:sldId id="329" r:id="rId11"/>
    <p:sldId id="31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11/19/2025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11/19/2025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2</a:t>
            </a:fld>
            <a:endParaRPr lang="en-US" noProof="0" dirty="0"/>
          </a:p>
        </p:txBody>
      </p:sp>
    </p:spTree>
    <p:extLst>
      <p:ext uri="{BB962C8B-B14F-4D97-AF65-F5344CB8AC3E}">
        <p14:creationId xmlns:p14="http://schemas.microsoft.com/office/powerpoint/2010/main" val="364420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anchor="b"/>
          <a:lstStyle>
            <a:lvl1pPr algn="r">
              <a:buNone/>
              <a:defRPr lang="en-US" sz="1600" kern="1200" dirty="0" smtClean="0">
                <a:solidFill>
                  <a:schemeClr val="bg1"/>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tx1"/>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a:lstStyle>
            <a:lvl1pPr algn="ctr">
              <a:spcBef>
                <a:spcPts val="1000"/>
              </a:spcBef>
              <a:defRPr sz="2800">
                <a:solidFill>
                  <a:schemeClr val="bg1"/>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anchor="ctr"/>
          <a:lstStyle>
            <a:lvl1pPr algn="ct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a:lstStyle>
            <a:lvl1pPr marL="0" indent="0">
              <a:buNone/>
              <a:defRPr sz="2000"/>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a:r>
              <a:rPr lang="en-US"/>
              <a:t>Click to edit Master text styles</a:t>
            </a:r>
          </a:p>
          <a:p>
            <a:pPr lvl="1"/>
            <a:r>
              <a:rPr lang="en-US"/>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A1AD702D-965C-40E9-8D23-D82E2CFA9E61}"/>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11/19/2025</a:t>
            </a:fld>
            <a:endParaRPr lang="en-US" sz="1100" dirty="0">
              <a:solidFill>
                <a:schemeClr val="accent2"/>
              </a:solidFill>
            </a:endParaRPr>
          </a:p>
        </p:txBody>
      </p:sp>
      <p:sp>
        <p:nvSpPr>
          <p:cNvPr id="5" name="Footer Placeholder 4">
            <a:extLst>
              <a:ext uri="{FF2B5EF4-FFF2-40B4-BE49-F238E27FC236}">
                <a16:creationId xmlns:a16="http://schemas.microsoft.com/office/drawing/2014/main" id="{793E0959-6855-4447-BAEC-D32B47712F07}"/>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7" name="Slide Number Placeholder 5">
            <a:extLst>
              <a:ext uri="{FF2B5EF4-FFF2-40B4-BE49-F238E27FC236}">
                <a16:creationId xmlns:a16="http://schemas.microsoft.com/office/drawing/2014/main" id="{13A05B6A-9124-4DBB-843A-84818A8F79FC}"/>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52C35-B82A-2400-1F27-4361CCE129C3}"/>
              </a:ext>
            </a:extLst>
          </p:cNvPr>
          <p:cNvSpPr>
            <a:spLocks noGrp="1"/>
          </p:cNvSpPr>
          <p:nvPr>
            <p:ph type="title"/>
          </p:nvPr>
        </p:nvSpPr>
        <p:spPr>
          <a:xfrm>
            <a:off x="-538596" y="128155"/>
            <a:ext cx="13269191" cy="700114"/>
          </a:xfrm>
        </p:spPr>
        <p:txBody>
          <a:bodyPr/>
          <a:lstStyle/>
          <a:p>
            <a:pPr algn="ctr"/>
            <a:r>
              <a:rPr lang="en-US" sz="2400" b="1" dirty="0">
                <a:solidFill>
                  <a:schemeClr val="tx1"/>
                </a:solidFill>
                <a:latin typeface="Bell MT" panose="02020503060305020303" pitchFamily="18" charset="0"/>
              </a:rPr>
              <a:t>DR. D. Y. PATIL SCHOOL OF SCIENCE &amp; TECHNOLOGY, TATHAWADE, PUNE</a:t>
            </a:r>
            <a:r>
              <a:rPr lang="en-US" sz="2400" dirty="0"/>
              <a:t>. </a:t>
            </a:r>
            <a:endParaRPr lang="en-IN" sz="2400" dirty="0"/>
          </a:p>
        </p:txBody>
      </p:sp>
      <p:sp>
        <p:nvSpPr>
          <p:cNvPr id="4" name="TextBox 3">
            <a:extLst>
              <a:ext uri="{FF2B5EF4-FFF2-40B4-BE49-F238E27FC236}">
                <a16:creationId xmlns:a16="http://schemas.microsoft.com/office/drawing/2014/main" id="{260016DC-5F69-1160-6875-27017EA3561F}"/>
              </a:ext>
            </a:extLst>
          </p:cNvPr>
          <p:cNvSpPr txBox="1"/>
          <p:nvPr/>
        </p:nvSpPr>
        <p:spPr>
          <a:xfrm>
            <a:off x="3093892" y="782441"/>
            <a:ext cx="6395604" cy="523220"/>
          </a:xfrm>
          <a:prstGeom prst="rect">
            <a:avLst/>
          </a:prstGeom>
          <a:noFill/>
        </p:spPr>
        <p:txBody>
          <a:bodyPr wrap="square">
            <a:spAutoFit/>
          </a:bodyPr>
          <a:lstStyle/>
          <a:p>
            <a:pPr algn="ctr"/>
            <a:r>
              <a:rPr lang="en-IN" sz="2800" b="1" dirty="0">
                <a:latin typeface="Bell MT" panose="02020503060305020303" pitchFamily="18" charset="0"/>
              </a:rPr>
              <a:t>A</a:t>
            </a:r>
            <a:r>
              <a:rPr lang="en-IN" sz="2800" dirty="0"/>
              <a:t> </a:t>
            </a:r>
            <a:r>
              <a:rPr lang="en-IN" sz="2800" dirty="0">
                <a:latin typeface="Bell MT" panose="02020503060305020303" pitchFamily="18" charset="0"/>
              </a:rPr>
              <a:t>MINI-PROJECT</a:t>
            </a:r>
          </a:p>
        </p:txBody>
      </p:sp>
      <p:sp>
        <p:nvSpPr>
          <p:cNvPr id="6" name="TextBox 5">
            <a:extLst>
              <a:ext uri="{FF2B5EF4-FFF2-40B4-BE49-F238E27FC236}">
                <a16:creationId xmlns:a16="http://schemas.microsoft.com/office/drawing/2014/main" id="{C0B8F0F0-9B7C-AB08-DDA7-3915DBB57EC2}"/>
              </a:ext>
            </a:extLst>
          </p:cNvPr>
          <p:cNvSpPr txBox="1"/>
          <p:nvPr/>
        </p:nvSpPr>
        <p:spPr>
          <a:xfrm>
            <a:off x="5557406" y="1354158"/>
            <a:ext cx="1059704" cy="461665"/>
          </a:xfrm>
          <a:prstGeom prst="rect">
            <a:avLst/>
          </a:prstGeom>
          <a:noFill/>
        </p:spPr>
        <p:txBody>
          <a:bodyPr wrap="square">
            <a:spAutoFit/>
          </a:bodyPr>
          <a:lstStyle/>
          <a:p>
            <a:r>
              <a:rPr lang="en-IN" sz="2400" dirty="0">
                <a:latin typeface="Bell MT" panose="02020503060305020303" pitchFamily="18" charset="0"/>
              </a:rPr>
              <a:t>ON</a:t>
            </a:r>
          </a:p>
        </p:txBody>
      </p:sp>
      <p:sp>
        <p:nvSpPr>
          <p:cNvPr id="8" name="TextBox 7">
            <a:extLst>
              <a:ext uri="{FF2B5EF4-FFF2-40B4-BE49-F238E27FC236}">
                <a16:creationId xmlns:a16="http://schemas.microsoft.com/office/drawing/2014/main" id="{DD07FD93-55DC-C15C-54B3-B9B645FC8DF7}"/>
              </a:ext>
            </a:extLst>
          </p:cNvPr>
          <p:cNvSpPr txBox="1"/>
          <p:nvPr/>
        </p:nvSpPr>
        <p:spPr>
          <a:xfrm>
            <a:off x="103909" y="1960008"/>
            <a:ext cx="12088091" cy="646331"/>
          </a:xfrm>
          <a:prstGeom prst="rect">
            <a:avLst/>
          </a:prstGeom>
          <a:noFill/>
        </p:spPr>
        <p:txBody>
          <a:bodyPr wrap="square">
            <a:spAutoFit/>
          </a:bodyPr>
          <a:lstStyle/>
          <a:p>
            <a:r>
              <a:rPr lang="en-US" sz="3600" dirty="0">
                <a:latin typeface="Bell MT" panose="02020503060305020303" pitchFamily="18" charset="0"/>
              </a:rPr>
              <a:t>Customer Segmentation for a Mall using Multivariate Analysis</a:t>
            </a:r>
            <a:endParaRPr lang="en-IN" sz="3600" dirty="0">
              <a:latin typeface="Bell MT" panose="02020503060305020303" pitchFamily="18" charset="0"/>
            </a:endParaRPr>
          </a:p>
        </p:txBody>
      </p:sp>
      <p:sp>
        <p:nvSpPr>
          <p:cNvPr id="10" name="TextBox 9">
            <a:extLst>
              <a:ext uri="{FF2B5EF4-FFF2-40B4-BE49-F238E27FC236}">
                <a16:creationId xmlns:a16="http://schemas.microsoft.com/office/drawing/2014/main" id="{9E6482ED-0944-8280-D4B0-EAE211733F1D}"/>
              </a:ext>
            </a:extLst>
          </p:cNvPr>
          <p:cNvSpPr txBox="1"/>
          <p:nvPr/>
        </p:nvSpPr>
        <p:spPr>
          <a:xfrm>
            <a:off x="9110228" y="5344850"/>
            <a:ext cx="3873211" cy="1384995"/>
          </a:xfrm>
          <a:prstGeom prst="rect">
            <a:avLst/>
          </a:prstGeom>
          <a:noFill/>
        </p:spPr>
        <p:txBody>
          <a:bodyPr wrap="square">
            <a:spAutoFit/>
          </a:bodyPr>
          <a:lstStyle/>
          <a:p>
            <a:r>
              <a:rPr lang="en-IN" sz="2800" dirty="0">
                <a:latin typeface="Bell MT" panose="02020503060305020303" pitchFamily="18" charset="0"/>
              </a:rPr>
              <a:t>Ms Tanaya Shinde </a:t>
            </a:r>
          </a:p>
          <a:p>
            <a:r>
              <a:rPr lang="en-IN" sz="2800" dirty="0">
                <a:latin typeface="Bell MT" panose="02020503060305020303" pitchFamily="18" charset="0"/>
              </a:rPr>
              <a:t>Ms Saniya Mulla</a:t>
            </a:r>
          </a:p>
          <a:p>
            <a:r>
              <a:rPr lang="en-IN" sz="2800" dirty="0">
                <a:latin typeface="Bell MT" panose="02020503060305020303" pitchFamily="18" charset="0"/>
              </a:rPr>
              <a:t>Ms Shravani Patki</a:t>
            </a:r>
            <a:endParaRPr lang="en-IN" dirty="0">
              <a:latin typeface="Bell MT" panose="02020503060305020303" pitchFamily="18" charset="0"/>
            </a:endParaRPr>
          </a:p>
        </p:txBody>
      </p:sp>
      <p:sp>
        <p:nvSpPr>
          <p:cNvPr id="12" name="TextBox 11">
            <a:extLst>
              <a:ext uri="{FF2B5EF4-FFF2-40B4-BE49-F238E27FC236}">
                <a16:creationId xmlns:a16="http://schemas.microsoft.com/office/drawing/2014/main" id="{8CA49FC2-1181-0982-CF06-00DA895B7FAF}"/>
              </a:ext>
            </a:extLst>
          </p:cNvPr>
          <p:cNvSpPr txBox="1"/>
          <p:nvPr/>
        </p:nvSpPr>
        <p:spPr>
          <a:xfrm>
            <a:off x="2974397" y="2939530"/>
            <a:ext cx="6634594" cy="1384995"/>
          </a:xfrm>
          <a:prstGeom prst="rect">
            <a:avLst/>
          </a:prstGeom>
          <a:noFill/>
        </p:spPr>
        <p:txBody>
          <a:bodyPr wrap="square">
            <a:spAutoFit/>
          </a:bodyPr>
          <a:lstStyle/>
          <a:p>
            <a:pPr algn="ctr"/>
            <a:r>
              <a:rPr lang="en-US" sz="2800" dirty="0">
                <a:latin typeface="Bell MT" panose="02020503060305020303" pitchFamily="18" charset="0"/>
              </a:rPr>
              <a:t>Guided By: Ms. Gayatri Bhise </a:t>
            </a:r>
          </a:p>
          <a:p>
            <a:pPr algn="ctr"/>
            <a:r>
              <a:rPr lang="en-US" sz="2800" dirty="0">
                <a:latin typeface="Bell MT" panose="02020503060305020303" pitchFamily="18" charset="0"/>
              </a:rPr>
              <a:t>Bachelor Of Computer Science Academic </a:t>
            </a:r>
          </a:p>
          <a:p>
            <a:pPr algn="ctr"/>
            <a:r>
              <a:rPr lang="en-US" sz="2800" dirty="0">
                <a:latin typeface="Bell MT" panose="02020503060305020303" pitchFamily="18" charset="0"/>
              </a:rPr>
              <a:t>Year :2024-25</a:t>
            </a:r>
          </a:p>
        </p:txBody>
      </p:sp>
    </p:spTree>
    <p:extLst>
      <p:ext uri="{BB962C8B-B14F-4D97-AF65-F5344CB8AC3E}">
        <p14:creationId xmlns:p14="http://schemas.microsoft.com/office/powerpoint/2010/main" val="2258570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10"/>
          </p:nvPr>
        </p:nvPicPr>
        <p:blipFill>
          <a:blip r:embed="rId3">
            <a:alphaModFix amt="80000"/>
          </a:blip>
          <a:srcRect t="7802" b="7802"/>
          <a:stretch/>
        </p:blipFill>
        <p:spPr>
          <a:xfrm>
            <a:off x="78658" y="-4423"/>
            <a:ext cx="12192000" cy="6858000"/>
          </a:xfrm>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2379406" y="1010163"/>
            <a:ext cx="8023122"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3671247" y="1698089"/>
            <a:ext cx="5439437" cy="2118885"/>
          </a:xfrm>
        </p:spPr>
        <p:txBody>
          <a:bodyPr/>
          <a:lstStyle/>
          <a:p>
            <a:pPr algn="ctr"/>
            <a:r>
              <a:rPr lang="en-US" sz="5400" dirty="0"/>
              <a:t>Customer Segmentation for a Mall using Multivariate Analysis</a:t>
            </a:r>
            <a:endParaRPr lang="en-US" sz="3200" dirty="0"/>
          </a:p>
        </p:txBody>
      </p:sp>
      <p:sp>
        <p:nvSpPr>
          <p:cNvPr id="11" name="Text Placeholder 10">
            <a:extLst>
              <a:ext uri="{FF2B5EF4-FFF2-40B4-BE49-F238E27FC236}">
                <a16:creationId xmlns:a16="http://schemas.microsoft.com/office/drawing/2014/main" id="{E6DF5064-7AAC-4887-9BD5-FB6BC40A6768}"/>
              </a:ext>
            </a:extLst>
          </p:cNvPr>
          <p:cNvSpPr>
            <a:spLocks noGrp="1"/>
          </p:cNvSpPr>
          <p:nvPr>
            <p:ph type="body" sz="quarter" idx="13"/>
          </p:nvPr>
        </p:nvSpPr>
        <p:spPr>
          <a:xfrm>
            <a:off x="10000479" y="5685047"/>
            <a:ext cx="2112863" cy="1168530"/>
          </a:xfrm>
        </p:spPr>
        <p:txBody>
          <a:bodyPr/>
          <a:lstStyle/>
          <a:p>
            <a:r>
              <a:rPr lang="en-US" dirty="0"/>
              <a:t>Tanaya s</a:t>
            </a:r>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133592" y="2858483"/>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1937204" y="3451029"/>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5993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421389" y="805213"/>
            <a:ext cx="5937847" cy="830997"/>
          </a:xfrm>
        </p:spPr>
        <p:txBody>
          <a:bodyPr/>
          <a:lstStyle/>
          <a:p>
            <a:r>
              <a:rPr lang="en-US" dirty="0"/>
              <a:t>Problem Statement </a:t>
            </a:r>
          </a:p>
        </p:txBody>
      </p:sp>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660400" y="2044700"/>
            <a:ext cx="5120968" cy="3560763"/>
          </a:xfrm>
        </p:spPr>
        <p:txBody>
          <a:bodyPr/>
          <a:lstStyle/>
          <a:p>
            <a:pPr marL="0" indent="0">
              <a:buNone/>
            </a:pPr>
            <a:r>
              <a:rPr lang="en-US" b="1" dirty="0"/>
              <a:t>Mall management aims to improve marketing effectiveness, enhance customer experience, and increase overall sales by better understanding the diverse characteristics of its customers. However, the current marketing strategies target customers uniformly without considering differences in purchasing behavior, spending capacity, age groups, and income levels. This results in inefficient allocation of promotional resources and missed opportunities for personalized engagement.</a:t>
            </a:r>
          </a:p>
        </p:txBody>
      </p:sp>
      <p:pic>
        <p:nvPicPr>
          <p:cNvPr id="6" name="Picture Placeholder 5">
            <a:extLst>
              <a:ext uri="{FF2B5EF4-FFF2-40B4-BE49-F238E27FC236}">
                <a16:creationId xmlns:a16="http://schemas.microsoft.com/office/drawing/2014/main" id="{92143912-D6C8-05FE-A608-436FE4590CFA}"/>
              </a:ext>
            </a:extLst>
          </p:cNvPr>
          <p:cNvPicPr>
            <a:picLocks noGrp="1" noChangeAspect="1"/>
          </p:cNvPicPr>
          <p:nvPr>
            <p:ph type="pic" sz="quarter" idx="13"/>
          </p:nvPr>
        </p:nvPicPr>
        <p:blipFill>
          <a:blip r:embed="rId2"/>
          <a:srcRect l="26834" r="26834" b="26911"/>
          <a:stretch>
            <a:fillRect/>
          </a:stretch>
        </p:blipFill>
        <p:spPr>
          <a:xfrm>
            <a:off x="6941128" y="716973"/>
            <a:ext cx="4912590" cy="4995569"/>
          </a:xfrm>
          <a:prstGeom prst="rect">
            <a:avLst/>
          </a:prstGeom>
        </p:spPr>
      </p:pic>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03543-C391-9FB0-0B9E-2A5F14133314}"/>
              </a:ext>
            </a:extLst>
          </p:cNvPr>
          <p:cNvSpPr>
            <a:spLocks noGrp="1"/>
          </p:cNvSpPr>
          <p:nvPr>
            <p:ph type="title"/>
          </p:nvPr>
        </p:nvSpPr>
        <p:spPr/>
        <p:txBody>
          <a:bodyPr/>
          <a:lstStyle/>
          <a:p>
            <a:pPr marL="457200" indent="-457200">
              <a:buFont typeface="Wingdings" panose="05000000000000000000" pitchFamily="2" charset="2"/>
              <a:buChar char="Ø"/>
            </a:pPr>
            <a:r>
              <a:rPr lang="en-IN" b="1" dirty="0">
                <a:solidFill>
                  <a:schemeClr val="tx1"/>
                </a:solidFill>
                <a:latin typeface="Corbel Light" panose="020B0303020204020204" pitchFamily="34" charset="0"/>
              </a:rPr>
              <a:t> </a:t>
            </a:r>
            <a:r>
              <a:rPr lang="en-IN" b="1" dirty="0">
                <a:solidFill>
                  <a:schemeClr val="tx1"/>
                </a:solidFill>
                <a:latin typeface="Cambria Math" panose="02040503050406030204" pitchFamily="18" charset="0"/>
                <a:ea typeface="Cambria Math" panose="02040503050406030204" pitchFamily="18" charset="0"/>
              </a:rPr>
              <a:t>PURPOSE</a:t>
            </a:r>
          </a:p>
        </p:txBody>
      </p:sp>
      <p:sp>
        <p:nvSpPr>
          <p:cNvPr id="4" name="TextBox 3">
            <a:extLst>
              <a:ext uri="{FF2B5EF4-FFF2-40B4-BE49-F238E27FC236}">
                <a16:creationId xmlns:a16="http://schemas.microsoft.com/office/drawing/2014/main" id="{F6484F5C-9336-AAEF-A188-A2126BD22756}"/>
              </a:ext>
            </a:extLst>
          </p:cNvPr>
          <p:cNvSpPr txBox="1"/>
          <p:nvPr/>
        </p:nvSpPr>
        <p:spPr>
          <a:xfrm>
            <a:off x="644236" y="1548246"/>
            <a:ext cx="11127764" cy="4401205"/>
          </a:xfrm>
          <a:prstGeom prst="rect">
            <a:avLst/>
          </a:prstGeom>
          <a:noFill/>
        </p:spPr>
        <p:txBody>
          <a:bodyPr wrap="square">
            <a:spAutoFit/>
          </a:bodyPr>
          <a:lstStyle/>
          <a:p>
            <a:pPr marL="457200" indent="-457200">
              <a:buFont typeface="Wingdings" panose="05000000000000000000" pitchFamily="2" charset="2"/>
              <a:buChar char="§"/>
            </a:pPr>
            <a:r>
              <a:rPr lang="en-US" sz="2800" dirty="0">
                <a:latin typeface="Cambria Math" panose="02040503050406030204" pitchFamily="18" charset="0"/>
                <a:ea typeface="Cambria Math" panose="02040503050406030204" pitchFamily="18" charset="0"/>
              </a:rPr>
              <a:t>Identify distinct customer groups based on multiple attributes simultaneously.</a:t>
            </a:r>
          </a:p>
          <a:p>
            <a:pPr marL="457200" indent="-457200">
              <a:buFont typeface="Wingdings" panose="05000000000000000000" pitchFamily="2" charset="2"/>
              <a:buChar char="§"/>
            </a:pPr>
            <a:r>
              <a:rPr lang="en-US" sz="2800" dirty="0">
                <a:latin typeface="Cambria Math" panose="02040503050406030204" pitchFamily="18" charset="0"/>
                <a:ea typeface="Cambria Math" panose="02040503050406030204" pitchFamily="18" charset="0"/>
              </a:rPr>
              <a:t>Optimize tenant mix (fashion, electronics, food, entertainment) to match customer clusters.</a:t>
            </a:r>
          </a:p>
          <a:p>
            <a:pPr marL="457200" indent="-457200">
              <a:buFont typeface="Wingdings" panose="05000000000000000000" pitchFamily="2" charset="2"/>
              <a:buChar char="§"/>
            </a:pPr>
            <a:r>
              <a:rPr lang="en-US" sz="2800" dirty="0">
                <a:latin typeface="Cambria Math" panose="02040503050406030204" pitchFamily="18" charset="0"/>
                <a:ea typeface="Cambria Math" panose="02040503050406030204" pitchFamily="18" charset="0"/>
              </a:rPr>
              <a:t>Personalize marketing campaigns for higher engagement and conversion.</a:t>
            </a:r>
          </a:p>
          <a:p>
            <a:pPr marL="457200" indent="-457200">
              <a:buFont typeface="Wingdings" panose="05000000000000000000" pitchFamily="2" charset="2"/>
              <a:buChar char="§"/>
            </a:pPr>
            <a:r>
              <a:rPr lang="en-US" sz="2800" dirty="0">
                <a:latin typeface="Cambria Math" panose="02040503050406030204" pitchFamily="18" charset="0"/>
                <a:ea typeface="Cambria Math" panose="02040503050406030204" pitchFamily="18" charset="0"/>
              </a:rPr>
              <a:t>Improve customer experience by tailoring events, loyalty programs, and services.</a:t>
            </a:r>
          </a:p>
          <a:p>
            <a:pPr marL="457200" indent="-457200">
              <a:buFont typeface="Wingdings" panose="05000000000000000000" pitchFamily="2" charset="2"/>
              <a:buChar char="§"/>
            </a:pPr>
            <a:r>
              <a:rPr lang="en-US" sz="2800" dirty="0">
                <a:latin typeface="Cambria Math" panose="02040503050406030204" pitchFamily="18" charset="0"/>
                <a:ea typeface="Cambria Math" panose="02040503050406030204" pitchFamily="18" charset="0"/>
              </a:rPr>
              <a:t>Maximize profitability by focusing on high-value segments while retaining diverse visitors</a:t>
            </a:r>
            <a:r>
              <a:rPr lang="en-US" sz="2000" dirty="0">
                <a:latin typeface="Cambria Math" panose="02040503050406030204" pitchFamily="18" charset="0"/>
                <a:ea typeface="Cambria Math" panose="02040503050406030204" pitchFamily="18" charset="0"/>
              </a:rPr>
              <a:t>.</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0922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86A9EC-640F-47FB-AA92-2851B3012347}"/>
              </a:ext>
            </a:extLst>
          </p:cNvPr>
          <p:cNvSpPr>
            <a:spLocks noGrp="1"/>
          </p:cNvSpPr>
          <p:nvPr>
            <p:ph type="title"/>
          </p:nvPr>
        </p:nvSpPr>
        <p:spPr/>
        <p:txBody>
          <a:bodyPr/>
          <a:lstStyle/>
          <a:p>
            <a:r>
              <a:rPr lang="en-US" dirty="0">
                <a:latin typeface="Corbel Light" panose="020B0303020204020204" pitchFamily="34" charset="0"/>
              </a:rPr>
              <a:t> </a:t>
            </a:r>
            <a:r>
              <a:rPr lang="en-US" dirty="0">
                <a:latin typeface="Cambria Math" panose="02040503050406030204" pitchFamily="18" charset="0"/>
                <a:ea typeface="Cambria Math" panose="02040503050406030204" pitchFamily="18" charset="0"/>
              </a:rPr>
              <a:t>GOALS</a:t>
            </a:r>
          </a:p>
        </p:txBody>
      </p:sp>
      <p:sp>
        <p:nvSpPr>
          <p:cNvPr id="3" name="TextBox 2">
            <a:extLst>
              <a:ext uri="{FF2B5EF4-FFF2-40B4-BE49-F238E27FC236}">
                <a16:creationId xmlns:a16="http://schemas.microsoft.com/office/drawing/2014/main" id="{4D7BB2A6-D661-32F9-9935-0E1946EEA1A0}"/>
              </a:ext>
            </a:extLst>
          </p:cNvPr>
          <p:cNvSpPr txBox="1"/>
          <p:nvPr/>
        </p:nvSpPr>
        <p:spPr>
          <a:xfrm>
            <a:off x="838200" y="1661636"/>
            <a:ext cx="8699090" cy="3682226"/>
          </a:xfrm>
          <a:prstGeom prst="rect">
            <a:avLst/>
          </a:prstGeom>
          <a:noFill/>
        </p:spPr>
        <p:txBody>
          <a:bodyPr wrap="square">
            <a:spAutoFit/>
          </a:bodyPr>
          <a:lstStyle/>
          <a:p>
            <a:pPr marL="342900" indent="-342900">
              <a:lnSpc>
                <a:spcPct val="200000"/>
              </a:lnSpc>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Deliver personalized experiences to different customer types.</a:t>
            </a:r>
          </a:p>
          <a:p>
            <a:pPr marL="342900" indent="-342900">
              <a:lnSpc>
                <a:spcPct val="200000"/>
              </a:lnSpc>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Align tenant mix and services with customer demand.</a:t>
            </a:r>
          </a:p>
          <a:p>
            <a:pPr marL="342900" indent="-342900">
              <a:lnSpc>
                <a:spcPct val="200000"/>
              </a:lnSpc>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Increase footfall, sales, and customer loyalty.</a:t>
            </a:r>
          </a:p>
          <a:p>
            <a:pPr marL="342900" indent="-342900">
              <a:lnSpc>
                <a:spcPct val="200000"/>
              </a:lnSpc>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Enhance marketing efficiency by targeting the right audience with the right message.</a:t>
            </a:r>
            <a:endParaRPr lang="en-IN"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575421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EEDAF89-0ECD-416A-93E5-A300FF0B9702}"/>
              </a:ext>
            </a:extLst>
          </p:cNvPr>
          <p:cNvSpPr>
            <a:spLocks noGrp="1"/>
          </p:cNvSpPr>
          <p:nvPr>
            <p:ph type="title"/>
          </p:nvPr>
        </p:nvSpPr>
        <p:spPr>
          <a:xfrm>
            <a:off x="838200" y="635000"/>
            <a:ext cx="4127090" cy="839839"/>
          </a:xfrm>
        </p:spPr>
        <p:txBody>
          <a:bodyPr/>
          <a:lstStyle/>
          <a:p>
            <a:pPr algn="l"/>
            <a:r>
              <a:rPr lang="en-US" dirty="0">
                <a:latin typeface="Cambria Math" panose="02040503050406030204" pitchFamily="18" charset="0"/>
                <a:ea typeface="Cambria Math" panose="02040503050406030204" pitchFamily="18" charset="0"/>
              </a:rPr>
              <a:t>Example:</a:t>
            </a:r>
          </a:p>
        </p:txBody>
      </p:sp>
      <p:pic>
        <p:nvPicPr>
          <p:cNvPr id="4" name="Picture 3">
            <a:extLst>
              <a:ext uri="{FF2B5EF4-FFF2-40B4-BE49-F238E27FC236}">
                <a16:creationId xmlns:a16="http://schemas.microsoft.com/office/drawing/2014/main" id="{6E0DCD51-6291-CC1E-F9BF-BFFF42756019}"/>
              </a:ext>
            </a:extLst>
          </p:cNvPr>
          <p:cNvPicPr>
            <a:picLocks noChangeAspect="1"/>
          </p:cNvPicPr>
          <p:nvPr/>
        </p:nvPicPr>
        <p:blipFill>
          <a:blip r:embed="rId2"/>
          <a:stretch>
            <a:fillRect/>
          </a:stretch>
        </p:blipFill>
        <p:spPr>
          <a:xfrm>
            <a:off x="5965722" y="1474839"/>
            <a:ext cx="5388078" cy="4689987"/>
          </a:xfrm>
          <a:prstGeom prst="rect">
            <a:avLst/>
          </a:prstGeom>
        </p:spPr>
      </p:pic>
      <p:sp>
        <p:nvSpPr>
          <p:cNvPr id="5" name="TextBox 4">
            <a:extLst>
              <a:ext uri="{FF2B5EF4-FFF2-40B4-BE49-F238E27FC236}">
                <a16:creationId xmlns:a16="http://schemas.microsoft.com/office/drawing/2014/main" id="{1596B94C-76C4-1AED-8ADC-4CE971D3AEE5}"/>
              </a:ext>
            </a:extLst>
          </p:cNvPr>
          <p:cNvSpPr txBox="1"/>
          <p:nvPr/>
        </p:nvSpPr>
        <p:spPr>
          <a:xfrm>
            <a:off x="589935" y="1809136"/>
            <a:ext cx="4916129" cy="4524315"/>
          </a:xfrm>
          <a:prstGeom prst="rect">
            <a:avLst/>
          </a:prstGeom>
          <a:noFill/>
        </p:spPr>
        <p:txBody>
          <a:bodyPr wrap="square" rtlCol="0">
            <a:spAutoFit/>
          </a:bodyPr>
          <a:lstStyle/>
          <a:p>
            <a:pPr marL="285750" indent="-285750">
              <a:buFont typeface="Wingdings" panose="05000000000000000000" pitchFamily="2" charset="2"/>
              <a:buChar char="§"/>
            </a:pPr>
            <a:r>
              <a:rPr lang="en-US" b="1" dirty="0"/>
              <a:t>Output:</a:t>
            </a:r>
          </a:p>
          <a:p>
            <a:pPr marL="285750" indent="-285750">
              <a:buFont typeface="Wingdings" panose="05000000000000000000" pitchFamily="2" charset="2"/>
              <a:buChar char="§"/>
            </a:pPr>
            <a:r>
              <a:rPr lang="en-US" b="1" dirty="0"/>
              <a:t>Cluster 1: Young High-Spenders</a:t>
            </a:r>
          </a:p>
          <a:p>
            <a:pPr marL="285750" indent="-285750">
              <a:buFont typeface="Wingdings" panose="05000000000000000000" pitchFamily="2" charset="2"/>
              <a:buChar char="§"/>
            </a:pPr>
            <a:r>
              <a:rPr lang="en-US" dirty="0"/>
              <a:t>Age: 18–30</a:t>
            </a:r>
          </a:p>
          <a:p>
            <a:pPr marL="285750" indent="-285750">
              <a:buFont typeface="Wingdings" panose="05000000000000000000" pitchFamily="2" charset="2"/>
              <a:buChar char="§"/>
            </a:pPr>
            <a:r>
              <a:rPr lang="en-US" dirty="0"/>
              <a:t>High spending, frequent visits</a:t>
            </a:r>
          </a:p>
          <a:p>
            <a:pPr marL="285750" indent="-285750">
              <a:buFont typeface="Wingdings" panose="05000000000000000000" pitchFamily="2" charset="2"/>
              <a:buChar char="§"/>
            </a:pPr>
            <a:r>
              <a:rPr lang="en-US" dirty="0"/>
              <a:t>Likes fashion, food, entertainment</a:t>
            </a:r>
          </a:p>
          <a:p>
            <a:pPr marL="285750" indent="-285750">
              <a:buFont typeface="Wingdings" panose="05000000000000000000" pitchFamily="2" charset="2"/>
              <a:buChar char="§"/>
            </a:pPr>
            <a:r>
              <a:rPr lang="en-US" b="1" dirty="0"/>
              <a:t>Cluster 2: Moderate Middle-Aged Shoppers</a:t>
            </a:r>
          </a:p>
          <a:p>
            <a:pPr marL="285750" indent="-285750">
              <a:buFont typeface="Wingdings" panose="05000000000000000000" pitchFamily="2" charset="2"/>
              <a:buChar char="§"/>
            </a:pPr>
            <a:r>
              <a:rPr lang="en-US" dirty="0"/>
              <a:t>Age: 30–40</a:t>
            </a:r>
          </a:p>
          <a:p>
            <a:pPr marL="285750" indent="-285750">
              <a:buFont typeface="Wingdings" panose="05000000000000000000" pitchFamily="2" charset="2"/>
              <a:buChar char="§"/>
            </a:pPr>
            <a:r>
              <a:rPr lang="en-US" dirty="0"/>
              <a:t>Medium income &amp; spending</a:t>
            </a:r>
          </a:p>
          <a:p>
            <a:pPr marL="285750" indent="-285750">
              <a:buFont typeface="Wingdings" panose="05000000000000000000" pitchFamily="2" charset="2"/>
              <a:buChar char="§"/>
            </a:pPr>
            <a:r>
              <a:rPr lang="en-US" dirty="0"/>
              <a:t>Visit mall regularly</a:t>
            </a:r>
          </a:p>
          <a:p>
            <a:pPr marL="285750" indent="-285750">
              <a:buFont typeface="Wingdings" panose="05000000000000000000" pitchFamily="2" charset="2"/>
              <a:buChar char="§"/>
            </a:pPr>
            <a:r>
              <a:rPr lang="en-US" dirty="0"/>
              <a:t>Prefer electronics, home goods</a:t>
            </a:r>
          </a:p>
          <a:p>
            <a:pPr marL="285750" indent="-285750">
              <a:buFont typeface="Wingdings" panose="05000000000000000000" pitchFamily="2" charset="2"/>
              <a:buChar char="§"/>
            </a:pPr>
            <a:r>
              <a:rPr lang="en-US" b="1" dirty="0"/>
              <a:t>Cluster 3: High-Income Low-Spenders</a:t>
            </a:r>
          </a:p>
          <a:p>
            <a:pPr marL="285750" indent="-285750">
              <a:buFont typeface="Wingdings" panose="05000000000000000000" pitchFamily="2" charset="2"/>
              <a:buChar char="§"/>
            </a:pPr>
            <a:r>
              <a:rPr lang="en-US" dirty="0"/>
              <a:t>Age: 45–60</a:t>
            </a:r>
          </a:p>
          <a:p>
            <a:pPr marL="285750" indent="-285750">
              <a:buFont typeface="Wingdings" panose="05000000000000000000" pitchFamily="2" charset="2"/>
              <a:buChar char="§"/>
            </a:pPr>
            <a:r>
              <a:rPr lang="en-US" dirty="0"/>
              <a:t>High income, low spending</a:t>
            </a:r>
          </a:p>
          <a:p>
            <a:pPr marL="285750" indent="-285750">
              <a:buFont typeface="Wingdings" panose="05000000000000000000" pitchFamily="2" charset="2"/>
              <a:buChar char="§"/>
            </a:pPr>
            <a:r>
              <a:rPr lang="en-US" dirty="0"/>
              <a:t>Rare visitors</a:t>
            </a:r>
          </a:p>
          <a:p>
            <a:pPr marL="285750" indent="-285750">
              <a:buFont typeface="Wingdings" panose="05000000000000000000" pitchFamily="2" charset="2"/>
              <a:buChar char="§"/>
            </a:pPr>
            <a:r>
              <a:rPr lang="en-US" dirty="0"/>
              <a:t>Prefer premium &amp; luxury stores</a:t>
            </a:r>
          </a:p>
          <a:p>
            <a:endParaRPr lang="en-US" sz="1800" kern="1200" dirty="0">
              <a:solidFill>
                <a:schemeClr val="tx1"/>
              </a:solidFill>
              <a:latin typeface="+mn-lt"/>
              <a:ea typeface="+mn-ea"/>
              <a:cs typeface="+mn-cs"/>
            </a:endParaRPr>
          </a:p>
        </p:txBody>
      </p:sp>
    </p:spTree>
    <p:extLst>
      <p:ext uri="{BB962C8B-B14F-4D97-AF65-F5344CB8AC3E}">
        <p14:creationId xmlns:p14="http://schemas.microsoft.com/office/powerpoint/2010/main" val="2580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FC4DE-787D-FF53-EFE1-CC314BA6CBFE}"/>
              </a:ext>
            </a:extLst>
          </p:cNvPr>
          <p:cNvSpPr>
            <a:spLocks noGrp="1"/>
          </p:cNvSpPr>
          <p:nvPr>
            <p:ph type="title"/>
          </p:nvPr>
        </p:nvSpPr>
        <p:spPr/>
        <p:txBody>
          <a:bodyPr/>
          <a:lstStyle/>
          <a:p>
            <a:pPr algn="ctr"/>
            <a:r>
              <a:rPr lang="en-IN" sz="3600" b="1" dirty="0">
                <a:solidFill>
                  <a:schemeClr val="tx1">
                    <a:lumMod val="95000"/>
                    <a:lumOff val="5000"/>
                  </a:schemeClr>
                </a:solidFill>
                <a:latin typeface="Cambria Math" panose="02040503050406030204" pitchFamily="18" charset="0"/>
                <a:ea typeface="Cambria Math" panose="02040503050406030204" pitchFamily="18" charset="0"/>
              </a:rPr>
              <a:t>THE PROTOTYPE</a:t>
            </a:r>
          </a:p>
        </p:txBody>
      </p:sp>
      <p:sp>
        <p:nvSpPr>
          <p:cNvPr id="4" name="TextBox 3">
            <a:extLst>
              <a:ext uri="{FF2B5EF4-FFF2-40B4-BE49-F238E27FC236}">
                <a16:creationId xmlns:a16="http://schemas.microsoft.com/office/drawing/2014/main" id="{01E5D6F1-454B-C392-FD2E-F934A9CC6046}"/>
              </a:ext>
            </a:extLst>
          </p:cNvPr>
          <p:cNvSpPr txBox="1"/>
          <p:nvPr/>
        </p:nvSpPr>
        <p:spPr>
          <a:xfrm>
            <a:off x="599768" y="1771969"/>
            <a:ext cx="9804884" cy="2776337"/>
          </a:xfrm>
          <a:prstGeom prst="rect">
            <a:avLst/>
          </a:prstGeom>
          <a:noFill/>
        </p:spPr>
        <p:txBody>
          <a:bodyPr wrap="square">
            <a:spAutoFit/>
          </a:bodyPr>
          <a:lstStyle/>
          <a:p>
            <a:pPr marL="285750" indent="-285750">
              <a:lnSpc>
                <a:spcPct val="200000"/>
              </a:lnSpc>
              <a:buFont typeface="Wingdings" panose="05000000000000000000" pitchFamily="2" charset="2"/>
              <a:buChar char="§"/>
            </a:pPr>
            <a:r>
              <a:rPr lang="en-US" dirty="0">
                <a:latin typeface="Cambria Math" panose="02040503050406030204" pitchFamily="18" charset="0"/>
                <a:ea typeface="Cambria Math" panose="02040503050406030204" pitchFamily="18" charset="0"/>
              </a:rPr>
              <a:t>Use sample data from mall customers.</a:t>
            </a:r>
          </a:p>
          <a:p>
            <a:pPr marL="285750" indent="-285750">
              <a:lnSpc>
                <a:spcPct val="200000"/>
              </a:lnSpc>
              <a:buFont typeface="Wingdings" panose="05000000000000000000" pitchFamily="2" charset="2"/>
              <a:buChar char="§"/>
            </a:pPr>
            <a:r>
              <a:rPr lang="en-US" dirty="0">
                <a:latin typeface="Cambria Math" panose="02040503050406030204" pitchFamily="18" charset="0"/>
                <a:ea typeface="Cambria Math" panose="02040503050406030204" pitchFamily="18" charset="0"/>
              </a:rPr>
              <a:t>Create 3–5 clusters (similar customer groups).</a:t>
            </a:r>
          </a:p>
          <a:p>
            <a:pPr marL="285750" indent="-285750">
              <a:lnSpc>
                <a:spcPct val="200000"/>
              </a:lnSpc>
              <a:buFont typeface="Wingdings" panose="05000000000000000000" pitchFamily="2" charset="2"/>
              <a:buChar char="§"/>
            </a:pPr>
            <a:r>
              <a:rPr lang="en-US" dirty="0">
                <a:latin typeface="Cambria Math" panose="02040503050406030204" pitchFamily="18" charset="0"/>
                <a:ea typeface="Cambria Math" panose="02040503050406030204" pitchFamily="18" charset="0"/>
              </a:rPr>
              <a:t>Show results using charts, tables, persona cards.</a:t>
            </a:r>
          </a:p>
          <a:p>
            <a:pPr marL="285750" indent="-285750">
              <a:lnSpc>
                <a:spcPct val="200000"/>
              </a:lnSpc>
              <a:buFont typeface="Wingdings" panose="05000000000000000000" pitchFamily="2" charset="2"/>
              <a:buChar char="§"/>
            </a:pPr>
            <a:r>
              <a:rPr lang="en-US" dirty="0">
                <a:latin typeface="Cambria Math" panose="02040503050406030204" pitchFamily="18" charset="0"/>
                <a:ea typeface="Cambria Math" panose="02040503050406030204" pitchFamily="18" charset="0"/>
              </a:rPr>
              <a:t>Test and refine the model.</a:t>
            </a:r>
          </a:p>
          <a:p>
            <a:pPr marL="285750" indent="-285750">
              <a:lnSpc>
                <a:spcPct val="200000"/>
              </a:lnSpc>
              <a:buFont typeface="Wingdings" panose="05000000000000000000" pitchFamily="2" charset="2"/>
              <a:buChar char="§"/>
            </a:pPr>
            <a:r>
              <a:rPr lang="en-US" dirty="0">
                <a:latin typeface="Cambria Math" panose="02040503050406030204" pitchFamily="18" charset="0"/>
                <a:ea typeface="Cambria Math" panose="02040503050406030204" pitchFamily="18" charset="0"/>
              </a:rPr>
              <a:t>Apply it to improve marketing, loyalty programs, tenant mix.</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093212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4448-4930-46E0-AD53-50021D9DCF2B}"/>
              </a:ext>
            </a:extLst>
          </p:cNvPr>
          <p:cNvSpPr>
            <a:spLocks noGrp="1"/>
          </p:cNvSpPr>
          <p:nvPr>
            <p:ph type="title"/>
          </p:nvPr>
        </p:nvSpPr>
        <p:spPr/>
        <p:txBody>
          <a:bodyPr/>
          <a:lstStyle/>
          <a:p>
            <a:r>
              <a:rPr lang="en-US" dirty="0">
                <a:latin typeface="Cambria Math" panose="02040503050406030204" pitchFamily="18" charset="0"/>
                <a:ea typeface="Cambria Math" panose="02040503050406030204" pitchFamily="18" charset="0"/>
              </a:rPr>
              <a:t>Conclusion</a:t>
            </a:r>
          </a:p>
          <a:p>
            <a:endParaRPr lang="en-US" dirty="0"/>
          </a:p>
        </p:txBody>
      </p:sp>
      <p:sp>
        <p:nvSpPr>
          <p:cNvPr id="3" name="Text Placeholder 2">
            <a:extLst>
              <a:ext uri="{FF2B5EF4-FFF2-40B4-BE49-F238E27FC236}">
                <a16:creationId xmlns:a16="http://schemas.microsoft.com/office/drawing/2014/main" id="{123F6824-E409-4436-9F53-FF50E9FB0CC0}"/>
              </a:ext>
            </a:extLst>
          </p:cNvPr>
          <p:cNvSpPr>
            <a:spLocks noGrp="1"/>
          </p:cNvSpPr>
          <p:nvPr>
            <p:ph type="body" sz="quarter" idx="10"/>
          </p:nvPr>
        </p:nvSpPr>
        <p:spPr>
          <a:xfrm>
            <a:off x="436419" y="2231923"/>
            <a:ext cx="5238805" cy="3181785"/>
          </a:xfrm>
        </p:spPr>
        <p:txBody>
          <a:bodyPr/>
          <a:lstStyle/>
          <a:p>
            <a:pPr marL="342900" indent="-342900">
              <a:buFont typeface="Wingdings" panose="05000000000000000000" pitchFamily="2" charset="2"/>
              <a:buChar char="§"/>
            </a:pPr>
            <a:r>
              <a:rPr lang="en-US" dirty="0"/>
              <a:t>Multivariate segmentation gives deep insights.</a:t>
            </a:r>
          </a:p>
          <a:p>
            <a:pPr marL="342900" indent="-342900">
              <a:buFont typeface="Wingdings" panose="05000000000000000000" pitchFamily="2" charset="2"/>
              <a:buChar char="§"/>
            </a:pPr>
            <a:r>
              <a:rPr lang="en-US" dirty="0"/>
              <a:t>Helps mall increase profit, retention &amp; satisfaction.</a:t>
            </a:r>
          </a:p>
          <a:p>
            <a:pPr marL="342900" indent="-342900">
              <a:buFont typeface="Wingdings" panose="05000000000000000000" pitchFamily="2" charset="2"/>
              <a:buChar char="§"/>
            </a:pPr>
            <a:r>
              <a:rPr lang="en-US" dirty="0"/>
              <a:t>Supports marketing &amp; loyalty strategies.</a:t>
            </a:r>
          </a:p>
          <a:p>
            <a:pPr marL="342900" indent="-342900">
              <a:buFont typeface="Wingdings" panose="05000000000000000000" pitchFamily="2" charset="2"/>
              <a:buChar char="§"/>
            </a:pPr>
            <a:r>
              <a:rPr lang="en-US" dirty="0"/>
              <a:t>Data privacy and changing behavior are major challenges.</a:t>
            </a:r>
          </a:p>
          <a:p>
            <a:pPr marL="342900" indent="-342900">
              <a:buFont typeface="Wingdings" panose="05000000000000000000" pitchFamily="2" charset="2"/>
              <a:buChar char="§"/>
            </a:pPr>
            <a:r>
              <a:rPr lang="en-US" dirty="0"/>
              <a:t>Overall, it is a powerful tool for mall growth</a:t>
            </a:r>
          </a:p>
        </p:txBody>
      </p:sp>
      <p:pic>
        <p:nvPicPr>
          <p:cNvPr id="20" name="Picture Placeholder 8" descr="close up of bridge">
            <a:extLst>
              <a:ext uri="{FF2B5EF4-FFF2-40B4-BE49-F238E27FC236}">
                <a16:creationId xmlns:a16="http://schemas.microsoft.com/office/drawing/2014/main" id="{2EC47CED-7A85-4080-9C7C-3921E48924A7}"/>
              </a:ext>
            </a:extLst>
          </p:cNvPr>
          <p:cNvPicPr>
            <a:picLocks noGrp="1" noChangeAspect="1"/>
          </p:cNvPicPr>
          <p:nvPr>
            <p:ph type="pic" sz="quarter" idx="13"/>
          </p:nvPr>
        </p:nvPicPr>
        <p:blipFill rotWithShape="1">
          <a:blip r:embed="rId2"/>
          <a:srcRect l="17082" r="17082"/>
          <a:stretch/>
        </p:blipFill>
        <p:spPr>
          <a:xfrm>
            <a:off x="5888038" y="533400"/>
            <a:ext cx="5541962" cy="5611813"/>
          </a:xfrm>
        </p:spPr>
      </p:pic>
    </p:spTree>
    <p:extLst>
      <p:ext uri="{BB962C8B-B14F-4D97-AF65-F5344CB8AC3E}">
        <p14:creationId xmlns:p14="http://schemas.microsoft.com/office/powerpoint/2010/main" val="715534863"/>
      </p:ext>
    </p:extLst>
  </p:cSld>
  <p:clrMapOvr>
    <a:masterClrMapping/>
  </p:clrMapOvr>
</p:sld>
</file>

<file path=ppt/theme/theme1.xml><?xml version="1.0" encoding="utf-8"?>
<a:theme xmlns:a="http://schemas.openxmlformats.org/drawingml/2006/main" name="Office Theme">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3_LW_v2" id="{C590A786-F65F-42F6-9E48-12C78E3C86B3}" vid="{FEE92C9D-6350-4ECD-87A4-004D12BB2B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Geometric presentation</Template>
  <TotalTime>405</TotalTime>
  <Words>386</Words>
  <Application>Microsoft Office PowerPoint</Application>
  <PresentationFormat>Widescreen</PresentationFormat>
  <Paragraphs>54</Paragraphs>
  <Slides>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Bell MT</vt:lpstr>
      <vt:lpstr>Calibri</vt:lpstr>
      <vt:lpstr>Calibri Light</vt:lpstr>
      <vt:lpstr>Cambria Math</vt:lpstr>
      <vt:lpstr>Corbel Light</vt:lpstr>
      <vt:lpstr>Wingdings</vt:lpstr>
      <vt:lpstr>Office Theme</vt:lpstr>
      <vt:lpstr>DR. D. Y. PATIL SCHOOL OF SCIENCE &amp; TECHNOLOGY, TATHAWADE, PUNE. </vt:lpstr>
      <vt:lpstr>Customer Segmentation for a Mall using Multivariate Analysis</vt:lpstr>
      <vt:lpstr>Problem Statement </vt:lpstr>
      <vt:lpstr> PURPOSE</vt:lpstr>
      <vt:lpstr> GOALS</vt:lpstr>
      <vt:lpstr>Example:</vt:lpstr>
      <vt:lpstr>THE PROTOTYPE</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shindetanaya11@outlook.com</dc:creator>
  <cp:lastModifiedBy>Shravani Patki</cp:lastModifiedBy>
  <cp:revision>3</cp:revision>
  <dcterms:created xsi:type="dcterms:W3CDTF">2025-10-22T20:39:44Z</dcterms:created>
  <dcterms:modified xsi:type="dcterms:W3CDTF">2025-11-19T08:08:58Z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